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16" r:id="rId1"/>
  </p:sldMasterIdLst>
  <p:notesMasterIdLst>
    <p:notesMasterId r:id="rId39"/>
  </p:notesMasterIdLst>
  <p:handoutMasterIdLst>
    <p:handoutMasterId r:id="rId40"/>
  </p:handoutMasterIdLst>
  <p:sldIdLst>
    <p:sldId id="256" r:id="rId2"/>
    <p:sldId id="300" r:id="rId3"/>
    <p:sldId id="301" r:id="rId4"/>
    <p:sldId id="286" r:id="rId5"/>
    <p:sldId id="257" r:id="rId6"/>
    <p:sldId id="29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  <p:sldId id="273" r:id="rId22"/>
    <p:sldId id="302" r:id="rId23"/>
    <p:sldId id="274" r:id="rId24"/>
    <p:sldId id="298" r:id="rId25"/>
    <p:sldId id="275" r:id="rId26"/>
    <p:sldId id="299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303" r:id="rId35"/>
    <p:sldId id="283" r:id="rId36"/>
    <p:sldId id="284" r:id="rId37"/>
    <p:sldId id="285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1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E0203174-A8BE-480A-8D91-FBC4536433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16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03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AD0398C-440C-46EE-B433-450C60D1680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952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017D3-0D92-4FC4-8453-18420BA96440}" type="slidenum">
              <a:rPr lang="en-GB"/>
              <a:pPr/>
              <a:t>1</a:t>
            </a:fld>
            <a:endParaRPr lang="en-GB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0398C-440C-46EE-B433-450C60D1680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29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0398C-440C-46EE-B433-450C60D1680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65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5B72CE-7816-4D12-91B8-0181126ED756}" type="slidenum">
              <a:rPr lang="en-GB"/>
              <a:pPr/>
              <a:t>4</a:t>
            </a:fld>
            <a:endParaRPr lang="en-GB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A27A4F-5A8E-41F3-BF32-E7140F430BBD}" type="slidenum">
              <a:rPr lang="en-GB"/>
              <a:pPr/>
              <a:t>5</a:t>
            </a:fld>
            <a:endParaRPr lang="en-GB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1C0E8C-A783-4DA3-B944-A1D14BE3F4B8}" type="slidenum">
              <a:rPr lang="en-GB"/>
              <a:pPr/>
              <a:t>6</a:t>
            </a:fld>
            <a:endParaRPr lang="en-GB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0F8381-5F54-40B5-8CF6-0D2D5E80FBAC}" type="slidenum">
              <a:rPr lang="en-GB"/>
              <a:pPr/>
              <a:t>7</a:t>
            </a:fld>
            <a:endParaRPr lang="en-GB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EB29A-DF42-4A6E-987E-08D8053A198B}" type="slidenum">
              <a:rPr lang="en-GB"/>
              <a:pPr/>
              <a:t>8</a:t>
            </a:fld>
            <a:endParaRPr lang="en-GB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D02476-AF53-4758-ACA4-6738B8AC2C94}" type="slidenum">
              <a:rPr lang="en-GB"/>
              <a:pPr/>
              <a:t>9</a:t>
            </a:fld>
            <a:endParaRPr lang="en-GB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394D3F-AD36-4DED-8C0D-29F5985F8657}" type="slidenum">
              <a:rPr lang="en-GB"/>
              <a:pPr/>
              <a:t>10</a:t>
            </a:fld>
            <a:endParaRPr lang="en-GB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64A43A-5895-4601-8859-ECD8C844273A}" type="slidenum">
              <a:rPr lang="en-GB"/>
              <a:pPr/>
              <a:t>11</a:t>
            </a:fld>
            <a:endParaRPr lang="en-GB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8A3D8B-2CEA-4A8C-AA08-7CDE90A8BBED}" type="slidenum">
              <a:rPr lang="en-GB"/>
              <a:pPr/>
              <a:t>12</a:t>
            </a:fld>
            <a:endParaRPr lang="en-GB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4E399-F1AD-4606-8E8C-3BBD21EB90D0}" type="slidenum">
              <a:rPr lang="en-GB"/>
              <a:pPr/>
              <a:t>13</a:t>
            </a:fld>
            <a:endParaRPr lang="en-GB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F4CDD7-FC11-453E-80F9-70E954A93F87}" type="slidenum">
              <a:rPr lang="en-GB"/>
              <a:pPr/>
              <a:t>14</a:t>
            </a:fld>
            <a:endParaRPr lang="en-GB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008028-EE9E-4B4C-94F2-35DB2D414FA7}" type="slidenum">
              <a:rPr lang="en-GB"/>
              <a:pPr/>
              <a:t>15</a:t>
            </a:fld>
            <a:endParaRPr lang="en-GB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2DA7A3-7ABC-45D6-BA58-4032B0DCBDA0}" type="slidenum">
              <a:rPr lang="en-GB"/>
              <a:pPr/>
              <a:t>16</a:t>
            </a:fld>
            <a:endParaRPr lang="en-GB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BDC3B-B54D-4289-959D-7518F5A98E3C}" type="slidenum">
              <a:rPr lang="en-GB"/>
              <a:pPr/>
              <a:t>17</a:t>
            </a:fld>
            <a:endParaRPr lang="en-GB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DB4935-DDAF-4200-B2FB-7EF1C33313A4}" type="slidenum">
              <a:rPr lang="en-GB"/>
              <a:pPr/>
              <a:t>18</a:t>
            </a:fld>
            <a:endParaRPr lang="en-GB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3D9D11-660F-42B5-93F9-37632BD3A544}" type="slidenum">
              <a:rPr lang="en-GB"/>
              <a:pPr/>
              <a:t>19</a:t>
            </a:fld>
            <a:endParaRPr lang="en-GB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5BADAB-B0F2-4763-9BDC-D39F54619FE0}" type="slidenum">
              <a:rPr lang="en-GB"/>
              <a:pPr/>
              <a:t>20</a:t>
            </a:fld>
            <a:endParaRPr lang="en-GB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6966A9-008D-494E-9B83-F16FDCC58C22}" type="slidenum">
              <a:rPr lang="en-GB"/>
              <a:pPr/>
              <a:t>21</a:t>
            </a:fld>
            <a:endParaRPr lang="en-GB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0398C-440C-46EE-B433-450C60D1680B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9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5879EB-0AFC-4EF9-9008-2E8105D46B66}" type="slidenum">
              <a:rPr lang="en-GB"/>
              <a:pPr/>
              <a:t>23</a:t>
            </a:fld>
            <a:endParaRPr lang="en-GB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1DD0D6-953C-4EF4-B4AE-5A3A473E1297}" type="slidenum">
              <a:rPr lang="en-GB"/>
              <a:pPr/>
              <a:t>24</a:t>
            </a:fld>
            <a:endParaRPr lang="en-GB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57B3BA-B671-462A-923E-A51D5F0299CC}" type="slidenum">
              <a:rPr lang="en-GB"/>
              <a:pPr/>
              <a:t>25</a:t>
            </a:fld>
            <a:endParaRPr lang="en-GB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96C8D3-F022-4B8F-A941-B0B5C733BAF5}" type="slidenum">
              <a:rPr lang="en-GB"/>
              <a:pPr/>
              <a:t>26</a:t>
            </a:fld>
            <a:endParaRPr lang="en-GB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33179A-73DE-4357-9F7A-1E036BF38BDB}" type="slidenum">
              <a:rPr lang="en-GB"/>
              <a:pPr/>
              <a:t>27</a:t>
            </a:fld>
            <a:endParaRPr lang="en-GB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DDEE63-CCB6-4C6B-9463-BC97BE61CF48}" type="slidenum">
              <a:rPr lang="en-GB"/>
              <a:pPr/>
              <a:t>28</a:t>
            </a:fld>
            <a:endParaRPr lang="en-GB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600A4D-5A30-46F1-A9CE-A3171B6A2226}" type="slidenum">
              <a:rPr lang="en-GB"/>
              <a:pPr/>
              <a:t>29</a:t>
            </a:fld>
            <a:endParaRPr lang="en-GB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5319E-E750-49C7-9CC6-05FF9BEE4456}" type="slidenum">
              <a:rPr lang="en-GB"/>
              <a:pPr/>
              <a:t>30</a:t>
            </a:fld>
            <a:endParaRPr lang="en-GB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B932B-CB87-4F68-B82F-4272520706D4}" type="slidenum">
              <a:rPr lang="en-GB"/>
              <a:pPr/>
              <a:t>31</a:t>
            </a:fld>
            <a:endParaRPr lang="en-GB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F1C423-8DD7-4D4D-8E4D-552528F1D2CF}" type="slidenum">
              <a:rPr lang="en-GB"/>
              <a:pPr/>
              <a:t>32</a:t>
            </a:fld>
            <a:endParaRPr lang="en-GB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8DBD52-EFCE-4AE6-B085-FAFF1829DE44}" type="slidenum">
              <a:rPr lang="en-GB"/>
              <a:pPr/>
              <a:t>33</a:t>
            </a:fld>
            <a:endParaRPr lang="en-GB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0398C-440C-46EE-B433-450C60D1680B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479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32B9E7-67C7-40F1-8EDC-94AE4897FAA8}" type="slidenum">
              <a:rPr lang="en-GB"/>
              <a:pPr/>
              <a:t>35</a:t>
            </a:fld>
            <a:endParaRPr lang="en-GB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C5B8C7-BC76-4E80-8358-CB71069615A6}" type="slidenum">
              <a:rPr lang="en-GB"/>
              <a:pPr/>
              <a:t>36</a:t>
            </a:fld>
            <a:endParaRPr lang="en-GB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EE0C39-2744-4125-90B9-2B3F3EA114DC}" type="slidenum">
              <a:rPr lang="en-GB"/>
              <a:pPr/>
              <a:t>37</a:t>
            </a:fld>
            <a:endParaRPr lang="en-GB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94B1E-C1E9-4954-8DEC-39F5E600CC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ACAFF-5099-45B9-974C-93E5D5446D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FDA57-72E1-403E-8666-B605D71BF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5DA4-6C47-4F74-BD5B-E14DD72042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4C975-DDA8-4351-A94B-333F4DEF6D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AE0C2-13DD-411A-807A-7E940DDDAE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F5C3D-AEB8-45A6-A8A3-D52A423EB00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3431-6390-4042-B481-25E8FFC750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E2D934-8D49-47AD-9B32-DD9F539C06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13BC-1E44-4B1C-9F89-17AC591B34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E0C72-0397-4A24-8C99-89A5089A1F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DA2737D9-115B-4DA6-B11A-07EBB41B0D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Arial" charset="0"/>
              </a:rPr>
              <a:t>Historical Background to the Book of Jeremiah</a:t>
            </a:r>
            <a:r>
              <a:rPr lang="en-US" dirty="0">
                <a:solidFill>
                  <a:schemeClr val="tx1"/>
                </a:solidFill>
                <a:latin typeface="Arial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By Phil Leage</a:t>
            </a:r>
            <a:endParaRPr lang="en-GB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32656"/>
            <a:ext cx="2375416" cy="18193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6"/>
            <a:ext cx="9243213" cy="6840864"/>
          </a:xfrm>
        </p:spPr>
      </p:pic>
    </p:spTree>
    <p:extLst>
      <p:ext uri="{BB962C8B-B14F-4D97-AF65-F5344CB8AC3E}">
        <p14:creationId xmlns:p14="http://schemas.microsoft.com/office/powerpoint/2010/main" val="31886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84"/>
            <a:ext cx="8460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8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Historical Background to the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Book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Jeremiah</a:t>
            </a:r>
            <a:endParaRPr lang="en-US" sz="3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This period is described in 2 Kg 21-25 and 2 Chr 33-36</a:t>
            </a:r>
          </a:p>
          <a:p>
            <a:r>
              <a:rPr lang="en-US" sz="2400">
                <a:latin typeface="Arial" charset="0"/>
              </a:rPr>
              <a:t>Great political and religious crisis:-</a:t>
            </a:r>
          </a:p>
          <a:p>
            <a:r>
              <a:rPr lang="en-US" sz="2400">
                <a:latin typeface="Arial" charset="0"/>
              </a:rPr>
              <a:t>Collapse of Assyria</a:t>
            </a:r>
          </a:p>
          <a:p>
            <a:r>
              <a:rPr lang="en-US" sz="2400">
                <a:latin typeface="Arial" charset="0"/>
              </a:rPr>
              <a:t>Rise of Babylon</a:t>
            </a:r>
          </a:p>
          <a:p>
            <a:r>
              <a:rPr lang="en-US" sz="2400">
                <a:latin typeface="Arial" charset="0"/>
              </a:rPr>
              <a:t>Decline of Egypt</a:t>
            </a:r>
          </a:p>
          <a:p>
            <a:r>
              <a:rPr lang="en-US" sz="2400">
                <a:latin typeface="Arial" charset="0"/>
              </a:rPr>
              <a:t>Extinction of Judah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686 BC 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Manasseh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Assumed Sole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Kingship</a:t>
            </a:r>
            <a:endParaRPr lang="en-US" sz="3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Manasseh was the most evil king</a:t>
            </a:r>
          </a:p>
          <a:p>
            <a:r>
              <a:rPr lang="en-US" sz="2400" dirty="0">
                <a:latin typeface="Arial" charset="0"/>
              </a:rPr>
              <a:t>He submitted to the yoke of Assyria</a:t>
            </a:r>
          </a:p>
          <a:p>
            <a:r>
              <a:rPr lang="en-US" sz="2400" dirty="0" smtClean="0">
                <a:latin typeface="Arial" charset="0"/>
              </a:rPr>
              <a:t>Esarhaddon and Ashurbanipal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686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Manasseh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Assumed Sole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Kingship</a:t>
            </a:r>
            <a:endParaRPr lang="en-US" sz="3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Shamash-shum-ukim rallied support from vassals</a:t>
            </a:r>
          </a:p>
          <a:p>
            <a:r>
              <a:rPr lang="en-US" sz="2400">
                <a:latin typeface="Arial" charset="0"/>
              </a:rPr>
              <a:t>Manasseh was drawn into this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1"/>
            <a:ext cx="7543800" cy="1307976"/>
          </a:xfrm>
        </p:spPr>
        <p:txBody>
          <a:bodyPr/>
          <a:lstStyle/>
          <a:p>
            <a:r>
              <a:rPr lang="en-US" sz="54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648 BC</a:t>
            </a:r>
            <a:br>
              <a:rPr lang="en-US" sz="4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Josiah 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Was Born</a:t>
            </a:r>
            <a:endParaRPr lang="en-US" sz="4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642 BC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Amon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Succeeded Manasseh As King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Back to the extreme idolatry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640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Josiah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Becomes King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Aged 8)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Ruled for 31 years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633/2 BC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Josiah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Begins to Seek God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8</a:t>
            </a:r>
            <a:r>
              <a:rPr lang="en-US" sz="2400" baseline="30000">
                <a:latin typeface="Arial" charset="0"/>
              </a:rPr>
              <a:t>th</a:t>
            </a:r>
            <a:r>
              <a:rPr lang="en-US" sz="2400">
                <a:latin typeface="Arial" charset="0"/>
              </a:rPr>
              <a:t> year of reign</a:t>
            </a:r>
          </a:p>
          <a:p>
            <a:r>
              <a:rPr lang="en-US" sz="2400">
                <a:latin typeface="Arial" charset="0"/>
              </a:rPr>
              <a:t>He was 16 years old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628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Josiah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Renounces Idolatry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12</a:t>
            </a:r>
            <a:r>
              <a:rPr lang="en-US" sz="2400" baseline="30000">
                <a:latin typeface="Arial" charset="0"/>
              </a:rPr>
              <a:t>th</a:t>
            </a:r>
            <a:r>
              <a:rPr lang="en-US" sz="2400">
                <a:latin typeface="Arial" charset="0"/>
              </a:rPr>
              <a:t> year of his reign</a:t>
            </a:r>
          </a:p>
          <a:p>
            <a:r>
              <a:rPr lang="en-US" sz="2400">
                <a:latin typeface="Arial" charset="0"/>
              </a:rPr>
              <a:t>Purges the land of idols</a:t>
            </a:r>
          </a:p>
          <a:p>
            <a:r>
              <a:rPr lang="en-US" sz="2400">
                <a:latin typeface="Arial" charset="0"/>
              </a:rPr>
              <a:t>He was 20 years old</a:t>
            </a:r>
          </a:p>
          <a:p>
            <a:r>
              <a:rPr lang="en-US" sz="2400">
                <a:latin typeface="Arial" charset="0"/>
              </a:rPr>
              <a:t>This was before he had read the book of the law</a:t>
            </a: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627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Jeremiah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Called by God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13</a:t>
            </a:r>
            <a:r>
              <a:rPr lang="en-US" sz="2400" baseline="30000">
                <a:latin typeface="Arial" charset="0"/>
              </a:rPr>
              <a:t>th</a:t>
            </a:r>
            <a:r>
              <a:rPr lang="en-US" sz="2400">
                <a:latin typeface="Arial" charset="0"/>
              </a:rPr>
              <a:t> year of the reign of Josiah</a:t>
            </a: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626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Death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Ashurbanipal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Last great king of Assyria</a:t>
            </a:r>
          </a:p>
          <a:p>
            <a:r>
              <a:rPr lang="en-US" sz="2400" dirty="0">
                <a:latin typeface="Arial" charset="0"/>
              </a:rPr>
              <a:t>Period of independence for Judah</a:t>
            </a:r>
          </a:p>
          <a:p>
            <a:r>
              <a:rPr lang="en-US" sz="2400" dirty="0">
                <a:latin typeface="Arial" charset="0"/>
              </a:rPr>
              <a:t>Babylon independent</a:t>
            </a:r>
          </a:p>
          <a:p>
            <a:r>
              <a:rPr lang="en-US" sz="2400" dirty="0" err="1">
                <a:latin typeface="Arial" charset="0"/>
              </a:rPr>
              <a:t>Nabopolassar</a:t>
            </a:r>
            <a:r>
              <a:rPr lang="en-US" sz="2400" dirty="0">
                <a:latin typeface="Arial" charset="0"/>
              </a:rPr>
              <a:t> becomes threat to Assyria</a:t>
            </a:r>
          </a:p>
          <a:p>
            <a:r>
              <a:rPr lang="en-US" sz="2400" dirty="0">
                <a:latin typeface="Arial" charset="0"/>
              </a:rPr>
              <a:t>Egypt growing stronger under </a:t>
            </a:r>
            <a:r>
              <a:rPr lang="en-US" sz="2400" dirty="0" err="1">
                <a:latin typeface="Arial" charset="0"/>
              </a:rPr>
              <a:t>Psammetichus</a:t>
            </a:r>
            <a:r>
              <a:rPr lang="en-US" sz="2400" dirty="0">
                <a:latin typeface="Arial" charset="0"/>
              </a:rPr>
              <a:t> I</a:t>
            </a: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622/1 BC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Discovery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Book of Law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King Josiah repents</a:t>
            </a:r>
          </a:p>
          <a:p>
            <a:r>
              <a:rPr lang="en-US">
                <a:latin typeface="Arial" charset="0"/>
              </a:rPr>
              <a:t>Reformation begins</a:t>
            </a:r>
          </a:p>
          <a:p>
            <a:r>
              <a:rPr lang="en-US">
                <a:latin typeface="Arial" charset="0"/>
              </a:rPr>
              <a:t>Passover celebrated</a:t>
            </a:r>
          </a:p>
          <a:p>
            <a:r>
              <a:rPr lang="en-US">
                <a:latin typeface="Arial" charset="0"/>
              </a:rPr>
              <a:t>Josiah’s 18</a:t>
            </a:r>
            <a:r>
              <a:rPr lang="en-US" baseline="30000">
                <a:latin typeface="Arial" charset="0"/>
              </a:rPr>
              <a:t>th</a:t>
            </a:r>
            <a:r>
              <a:rPr lang="en-US">
                <a:latin typeface="Arial" charset="0"/>
              </a:rPr>
              <a:t> year of reign</a:t>
            </a: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622/1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Discovery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Book of Law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Arial" charset="0"/>
              </a:rPr>
              <a:t>Josiah </a:t>
            </a:r>
            <a:r>
              <a:rPr lang="en-US" sz="2400" dirty="0" smtClean="0">
                <a:latin typeface="Arial" charset="0"/>
              </a:rPr>
              <a:t>was </a:t>
            </a:r>
            <a:r>
              <a:rPr lang="en-US" sz="2400" dirty="0">
                <a:latin typeface="Arial" charset="0"/>
              </a:rPr>
              <a:t>26 years old</a:t>
            </a:r>
          </a:p>
          <a:p>
            <a:r>
              <a:rPr lang="en-US" sz="2400" dirty="0">
                <a:latin typeface="Arial" charset="0"/>
              </a:rPr>
              <a:t>10 years after seeking God</a:t>
            </a:r>
          </a:p>
          <a:p>
            <a:r>
              <a:rPr lang="en-US" sz="2400" dirty="0">
                <a:latin typeface="Arial" charset="0"/>
              </a:rPr>
              <a:t>6 years after the purge began</a:t>
            </a: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What Was Found?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" charset="0"/>
              </a:rPr>
              <a:t>‘The </a:t>
            </a:r>
            <a:r>
              <a:rPr lang="en-US" sz="2400" dirty="0">
                <a:latin typeface="Arial" charset="0"/>
              </a:rPr>
              <a:t>book of the law given through </a:t>
            </a:r>
            <a:r>
              <a:rPr lang="en-US" sz="2400" dirty="0" smtClean="0">
                <a:latin typeface="Arial" charset="0"/>
              </a:rPr>
              <a:t>Moses’</a:t>
            </a:r>
          </a:p>
          <a:p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2Chron 34:14</a:t>
            </a:r>
          </a:p>
          <a:p>
            <a:r>
              <a:rPr lang="en-US" sz="2400" dirty="0" smtClean="0">
                <a:latin typeface="Arial" charset="0"/>
              </a:rPr>
              <a:t>‘The </a:t>
            </a:r>
            <a:r>
              <a:rPr lang="en-US" sz="2400" dirty="0">
                <a:latin typeface="Arial" charset="0"/>
              </a:rPr>
              <a:t>book of the </a:t>
            </a:r>
            <a:r>
              <a:rPr lang="en-US" sz="2400" dirty="0" smtClean="0">
                <a:latin typeface="Arial" charset="0"/>
              </a:rPr>
              <a:t>covenant’ 2Chron </a:t>
            </a:r>
            <a:r>
              <a:rPr lang="en-US" sz="2400" dirty="0">
                <a:latin typeface="Arial" charset="0"/>
              </a:rPr>
              <a:t>34:30</a:t>
            </a:r>
          </a:p>
          <a:p>
            <a:r>
              <a:rPr lang="en-US" sz="2400" dirty="0" smtClean="0">
                <a:latin typeface="Arial" charset="0"/>
              </a:rPr>
              <a:t>‘The </a:t>
            </a:r>
            <a:r>
              <a:rPr lang="en-US" sz="2400" dirty="0">
                <a:latin typeface="Arial" charset="0"/>
              </a:rPr>
              <a:t>book of the law in the house of the </a:t>
            </a:r>
            <a:r>
              <a:rPr lang="en-US" sz="2400" dirty="0" smtClean="0">
                <a:latin typeface="Arial" charset="0"/>
              </a:rPr>
              <a:t>Lord’</a:t>
            </a:r>
          </a:p>
          <a:p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2Kg 22:8</a:t>
            </a:r>
          </a:p>
          <a:p>
            <a:r>
              <a:rPr lang="en-US" sz="2400" dirty="0" smtClean="0">
                <a:latin typeface="Arial" charset="0"/>
              </a:rPr>
              <a:t>‘All </a:t>
            </a:r>
            <a:r>
              <a:rPr lang="en-US" sz="2400" dirty="0">
                <a:latin typeface="Arial" charset="0"/>
              </a:rPr>
              <a:t>the words of the </a:t>
            </a:r>
            <a:r>
              <a:rPr lang="en-US" sz="2400" dirty="0" smtClean="0">
                <a:latin typeface="Arial" charset="0"/>
              </a:rPr>
              <a:t>book’ </a:t>
            </a:r>
            <a:r>
              <a:rPr lang="en-US" sz="2400" dirty="0">
                <a:latin typeface="Arial" charset="0"/>
              </a:rPr>
              <a:t>2Kings 22:16</a:t>
            </a:r>
          </a:p>
          <a:p>
            <a:r>
              <a:rPr lang="en-US" sz="2400" dirty="0" smtClean="0">
                <a:latin typeface="Arial" charset="0"/>
              </a:rPr>
              <a:t>‘All </a:t>
            </a:r>
            <a:r>
              <a:rPr lang="en-US" sz="2400" dirty="0">
                <a:latin typeface="Arial" charset="0"/>
              </a:rPr>
              <a:t>the curses written in the book read before the </a:t>
            </a:r>
            <a:r>
              <a:rPr lang="en-US" sz="2400" dirty="0" smtClean="0">
                <a:latin typeface="Arial" charset="0"/>
              </a:rPr>
              <a:t>king’ </a:t>
            </a:r>
            <a:r>
              <a:rPr lang="en-US" sz="2400" dirty="0">
                <a:latin typeface="Arial" charset="0"/>
              </a:rPr>
              <a:t>2Chron 34:24</a:t>
            </a:r>
          </a:p>
          <a:p>
            <a:endParaRPr lang="en-GB" sz="2400" dirty="0">
              <a:latin typeface="Arial" charset="0"/>
            </a:endParaRPr>
          </a:p>
          <a:p>
            <a:r>
              <a:rPr lang="en-US" sz="2400" dirty="0" smtClean="0"/>
              <a:t>The book of Deuteronomy</a:t>
            </a:r>
            <a:r>
              <a:rPr lang="en-US" sz="2400" dirty="0"/>
              <a:t>?</a:t>
            </a:r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Josiah’s Response to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Reading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the Law #1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Arial" charset="0"/>
              </a:rPr>
              <a:t>2 </a:t>
            </a:r>
            <a:r>
              <a:rPr lang="en-US" sz="2400" dirty="0" err="1" smtClean="0">
                <a:latin typeface="Arial" charset="0"/>
              </a:rPr>
              <a:t>Chron</a:t>
            </a:r>
            <a:r>
              <a:rPr lang="en-US" sz="2400" dirty="0" smtClean="0">
                <a:latin typeface="Arial" charset="0"/>
              </a:rPr>
              <a:t> 34-35</a:t>
            </a:r>
          </a:p>
          <a:p>
            <a:r>
              <a:rPr lang="en-US" sz="2400" dirty="0" smtClean="0">
                <a:latin typeface="Arial" charset="0"/>
              </a:rPr>
              <a:t>Tore </a:t>
            </a:r>
            <a:r>
              <a:rPr lang="en-US" sz="2400" dirty="0">
                <a:latin typeface="Arial" charset="0"/>
              </a:rPr>
              <a:t>his clothes</a:t>
            </a:r>
          </a:p>
          <a:p>
            <a:r>
              <a:rPr lang="en-US" sz="2400" dirty="0">
                <a:latin typeface="Arial" charset="0"/>
              </a:rPr>
              <a:t>His heart was penitent</a:t>
            </a:r>
          </a:p>
          <a:p>
            <a:r>
              <a:rPr lang="en-US" sz="2400" dirty="0">
                <a:latin typeface="Arial" charset="0"/>
              </a:rPr>
              <a:t>He humbled himself</a:t>
            </a:r>
          </a:p>
          <a:p>
            <a:r>
              <a:rPr lang="en-US" sz="2400" dirty="0">
                <a:latin typeface="Arial" charset="0"/>
              </a:rPr>
              <a:t>He wept before the Lord</a:t>
            </a: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Josiah’s Response to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Reading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the Law #2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He commanded a public reading</a:t>
            </a:r>
          </a:p>
          <a:p>
            <a:r>
              <a:rPr lang="en-US" sz="2400" dirty="0">
                <a:latin typeface="Arial" charset="0"/>
              </a:rPr>
              <a:t>He renewed the covenant</a:t>
            </a:r>
          </a:p>
          <a:p>
            <a:r>
              <a:rPr lang="en-US" sz="2400" dirty="0">
                <a:latin typeface="Arial" charset="0"/>
              </a:rPr>
              <a:t>Made the people join in</a:t>
            </a:r>
          </a:p>
          <a:p>
            <a:r>
              <a:rPr lang="en-US" sz="2400" dirty="0">
                <a:latin typeface="Arial" charset="0"/>
              </a:rPr>
              <a:t>Continued to cleans the land</a:t>
            </a:r>
          </a:p>
          <a:p>
            <a:r>
              <a:rPr lang="en-US" sz="2400" dirty="0">
                <a:latin typeface="Arial" charset="0"/>
              </a:rPr>
              <a:t>This was when Bethel was </a:t>
            </a:r>
            <a:r>
              <a:rPr lang="en-US" sz="2400" dirty="0" smtClean="0">
                <a:latin typeface="Arial" charset="0"/>
              </a:rPr>
              <a:t>cleansed:</a:t>
            </a:r>
          </a:p>
          <a:p>
            <a:r>
              <a:rPr lang="en-US" sz="2400" dirty="0" smtClean="0">
                <a:latin typeface="Arial" charset="0"/>
              </a:rPr>
              <a:t>2King’s </a:t>
            </a:r>
            <a:r>
              <a:rPr lang="en-US" sz="2400" dirty="0">
                <a:latin typeface="Arial" charset="0"/>
              </a:rPr>
              <a:t>23:15ff </a:t>
            </a:r>
            <a:r>
              <a:rPr lang="en-US" sz="2400" dirty="0" err="1">
                <a:latin typeface="Arial" charset="0"/>
              </a:rPr>
              <a:t>cf</a:t>
            </a:r>
            <a:r>
              <a:rPr lang="en-US" sz="2400" dirty="0">
                <a:latin typeface="Arial" charset="0"/>
              </a:rPr>
              <a:t> 1Kings </a:t>
            </a:r>
            <a:r>
              <a:rPr lang="en-US" sz="2400" dirty="0" smtClean="0">
                <a:latin typeface="Arial" charset="0"/>
              </a:rPr>
              <a:t>13:2</a:t>
            </a:r>
          </a:p>
          <a:p>
            <a:r>
              <a:rPr lang="en-US" sz="2400" dirty="0" smtClean="0">
                <a:latin typeface="Arial" charset="0"/>
              </a:rPr>
              <a:t>He kept the Passover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What Was the 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Result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the Reform?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There was no lasting change</a:t>
            </a:r>
          </a:p>
          <a:p>
            <a:r>
              <a:rPr lang="en-US" sz="2400">
                <a:latin typeface="Arial" charset="0"/>
              </a:rPr>
              <a:t>There was outward reformation</a:t>
            </a:r>
          </a:p>
          <a:p>
            <a:r>
              <a:rPr lang="en-US" sz="2400">
                <a:latin typeface="Arial" charset="0"/>
              </a:rPr>
              <a:t>No inward transformation in the people</a:t>
            </a: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1"/>
                </a:solidFill>
                <a:latin typeface="Arial" charset="0"/>
              </a:rPr>
              <a:t>617 </a:t>
            </a: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BC 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Attacks by Babylon and Medes on Assyrian Cities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Arial" charset="0"/>
              </a:rPr>
              <a:t>612	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Nineveh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‑ Capital of Assyria Falls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The remnant of Assyria is allied to Egypt</a:t>
            </a: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80"/>
            <a:ext cx="8460432" cy="691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32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526" y="-7608"/>
            <a:ext cx="4431474" cy="6858000"/>
          </a:xfrm>
          <a:prstGeom prst="rect">
            <a:avLst/>
          </a:prstGeom>
        </p:spPr>
      </p:pic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4042792" cy="2218258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609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err="1" smtClean="0">
                <a:solidFill>
                  <a:schemeClr val="tx1"/>
                </a:solidFill>
                <a:latin typeface="Arial" charset="0"/>
              </a:rPr>
              <a:t>Necho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and Egyptian Army March North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924944"/>
            <a:ext cx="4255326" cy="3475856"/>
          </a:xfrm>
        </p:spPr>
        <p:txBody>
          <a:bodyPr/>
          <a:lstStyle/>
          <a:p>
            <a:r>
              <a:rPr lang="en-US" sz="2400" dirty="0">
                <a:latin typeface="Arial" charset="0"/>
              </a:rPr>
              <a:t>Josiah intercepts army at Megiddo and is killed</a:t>
            </a:r>
          </a:p>
          <a:p>
            <a:r>
              <a:rPr lang="en-US" sz="2400" dirty="0">
                <a:latin typeface="Arial" charset="0"/>
              </a:rPr>
              <a:t>Judah looses independence</a:t>
            </a:r>
          </a:p>
          <a:p>
            <a:r>
              <a:rPr lang="en-US" sz="2400" dirty="0" smtClean="0">
                <a:latin typeface="Arial" charset="0"/>
              </a:rPr>
              <a:t>Judah becomes </a:t>
            </a:r>
            <a:r>
              <a:rPr lang="en-US" sz="2400" dirty="0">
                <a:latin typeface="Arial" charset="0"/>
              </a:rPr>
              <a:t>a vassal of Egypt</a:t>
            </a:r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859216" cy="1143000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609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err="1" smtClean="0">
                <a:solidFill>
                  <a:schemeClr val="tx1"/>
                </a:solidFill>
                <a:latin typeface="Arial" charset="0"/>
              </a:rPr>
              <a:t>Necho</a:t>
            </a: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and Egyptian Army March North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Necho deposes Jehoahaz</a:t>
            </a:r>
          </a:p>
          <a:p>
            <a:r>
              <a:rPr lang="en-US" sz="2400">
                <a:latin typeface="Arial" charset="0"/>
              </a:rPr>
              <a:t>Jehoiakim is placed on the throne</a:t>
            </a:r>
          </a:p>
          <a:p>
            <a:r>
              <a:rPr lang="en-US" sz="2400">
                <a:latin typeface="Arial" charset="0"/>
              </a:rPr>
              <a:t>Collapse of reforms</a:t>
            </a:r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605/4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Battle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Carchemish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3754760" cy="4800600"/>
          </a:xfrm>
        </p:spPr>
        <p:txBody>
          <a:bodyPr/>
          <a:lstStyle/>
          <a:p>
            <a:r>
              <a:rPr lang="en-US" sz="2400" dirty="0">
                <a:latin typeface="Arial" charset="0"/>
              </a:rPr>
              <a:t>Egypt beaten by Babylon</a:t>
            </a:r>
          </a:p>
          <a:p>
            <a:r>
              <a:rPr lang="en-US" sz="2400" dirty="0">
                <a:latin typeface="Arial" charset="0"/>
              </a:rPr>
              <a:t>Babylon becomes main power</a:t>
            </a:r>
          </a:p>
          <a:p>
            <a:r>
              <a:rPr lang="en-US" sz="2400" dirty="0">
                <a:latin typeface="Arial" charset="0"/>
              </a:rPr>
              <a:t>Small deportation (including Daniel)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6275"/>
            <a:ext cx="4572000" cy="5140197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4111540" cy="2074242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605/4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Battle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of Carchemish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708920"/>
            <a:ext cx="4402832" cy="2755776"/>
          </a:xfrm>
        </p:spPr>
        <p:txBody>
          <a:bodyPr/>
          <a:lstStyle/>
          <a:p>
            <a:r>
              <a:rPr lang="en-US" sz="2400" dirty="0">
                <a:latin typeface="Arial" charset="0"/>
              </a:rPr>
              <a:t>Nebuchadnezzar attacks Philistine cities</a:t>
            </a:r>
          </a:p>
          <a:p>
            <a:r>
              <a:rPr lang="en-US" sz="2400" dirty="0">
                <a:latin typeface="Arial" charset="0"/>
              </a:rPr>
              <a:t>A fast is proclaimed</a:t>
            </a:r>
          </a:p>
          <a:p>
            <a:r>
              <a:rPr lang="en-US" sz="2400" dirty="0">
                <a:latin typeface="Arial" charset="0"/>
              </a:rPr>
              <a:t>Judah becomes a vassal of Babylon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740" y="0"/>
            <a:ext cx="4575259" cy="68580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3538736" cy="2290266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601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Nebuchadnezzar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Attacks Egypt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429000"/>
            <a:ext cx="4114799" cy="2971800"/>
          </a:xfrm>
        </p:spPr>
        <p:txBody>
          <a:bodyPr/>
          <a:lstStyle/>
          <a:p>
            <a:r>
              <a:rPr lang="en-US" sz="2400" dirty="0">
                <a:latin typeface="Arial" charset="0"/>
              </a:rPr>
              <a:t>Meets resistance and retreats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0"/>
            <a:ext cx="4575259" cy="68580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598/7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Judah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Rejects Babylon Suzerainty #1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Makes alliance with Egypt</a:t>
            </a:r>
          </a:p>
          <a:p>
            <a:r>
              <a:rPr lang="en-US" sz="2400">
                <a:latin typeface="Arial" charset="0"/>
              </a:rPr>
              <a:t>Babylon sends in the army again</a:t>
            </a:r>
          </a:p>
          <a:p>
            <a:r>
              <a:rPr lang="en-US" sz="2400">
                <a:latin typeface="Arial" charset="0"/>
              </a:rPr>
              <a:t>2-month siege of Jerusalem</a:t>
            </a:r>
          </a:p>
          <a:p>
            <a:r>
              <a:rPr lang="en-US" sz="2400">
                <a:latin typeface="Arial" charset="0"/>
              </a:rPr>
              <a:t>Jehoiakim dies (possibly assassinated)</a:t>
            </a: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598/7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Judah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Rejects Babylon Suzerainty #2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Jehoiachin deported to Babylon</a:t>
            </a:r>
          </a:p>
          <a:p>
            <a:r>
              <a:rPr lang="en-US" sz="2400" dirty="0">
                <a:latin typeface="Arial" charset="0"/>
              </a:rPr>
              <a:t>Major deportation including </a:t>
            </a:r>
            <a:r>
              <a:rPr lang="en-US" sz="2400" dirty="0" smtClean="0">
                <a:latin typeface="Arial" charset="0"/>
              </a:rPr>
              <a:t>Ezekiel</a:t>
            </a:r>
          </a:p>
          <a:p>
            <a:r>
              <a:rPr lang="en-US" sz="2400" dirty="0" smtClean="0">
                <a:latin typeface="Arial" charset="0"/>
              </a:rPr>
              <a:t>Two communities now</a:t>
            </a:r>
            <a:endParaRPr lang="en-US" sz="2400" dirty="0">
              <a:latin typeface="Arial" charset="0"/>
            </a:endParaRPr>
          </a:p>
          <a:p>
            <a:r>
              <a:rPr lang="en-US" sz="2400" dirty="0" smtClean="0">
                <a:latin typeface="Arial" charset="0"/>
              </a:rPr>
              <a:t>Exiles: Hope for the </a:t>
            </a:r>
            <a:r>
              <a:rPr lang="en-US" sz="2400" dirty="0">
                <a:latin typeface="Arial" charset="0"/>
              </a:rPr>
              <a:t>future - good figs</a:t>
            </a:r>
          </a:p>
          <a:p>
            <a:r>
              <a:rPr lang="en-US" sz="2400" dirty="0">
                <a:latin typeface="Arial" charset="0"/>
              </a:rPr>
              <a:t>Zedekiah </a:t>
            </a:r>
            <a:r>
              <a:rPr lang="en-US" sz="2400" dirty="0" smtClean="0">
                <a:latin typeface="Arial" charset="0"/>
              </a:rPr>
              <a:t>becomes king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594/3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Uprising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in Babylon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Hope for fall of Babylon</a:t>
            </a:r>
          </a:p>
          <a:p>
            <a:r>
              <a:rPr lang="en-US" sz="2400" dirty="0">
                <a:latin typeface="Arial" charset="0"/>
              </a:rPr>
              <a:t>Edom, Ammon, Moab, </a:t>
            </a:r>
            <a:r>
              <a:rPr lang="en-US" sz="2400" dirty="0" err="1">
                <a:latin typeface="Arial" charset="0"/>
              </a:rPr>
              <a:t>Tyre</a:t>
            </a:r>
            <a:r>
              <a:rPr lang="en-US" sz="2400" dirty="0">
                <a:latin typeface="Arial" charset="0"/>
              </a:rPr>
              <a:t> and Sidon plan rebellion</a:t>
            </a:r>
          </a:p>
          <a:p>
            <a:r>
              <a:rPr lang="en-US" sz="2400" dirty="0">
                <a:latin typeface="Arial" charset="0"/>
              </a:rPr>
              <a:t>Try to persuade Zedekiah to join </a:t>
            </a:r>
            <a:r>
              <a:rPr lang="en-US" sz="2400" dirty="0" smtClean="0">
                <a:latin typeface="Arial" charset="0"/>
              </a:rPr>
              <a:t>them </a:t>
            </a:r>
            <a:r>
              <a:rPr lang="en-US" sz="2400" dirty="0" err="1" smtClean="0">
                <a:latin typeface="Arial" charset="0"/>
              </a:rPr>
              <a:t>Jer</a:t>
            </a:r>
            <a:r>
              <a:rPr lang="en-US" sz="2400" dirty="0" smtClean="0">
                <a:latin typeface="Arial" charset="0"/>
              </a:rPr>
              <a:t> 27:2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588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Judah </a:t>
            </a:r>
            <a:r>
              <a:rPr lang="en-US" sz="3600" dirty="0">
                <a:solidFill>
                  <a:schemeClr val="tx1"/>
                </a:solidFill>
                <a:latin typeface="Arial" charset="0"/>
              </a:rPr>
              <a:t>Invaded by Babylon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charset="0"/>
              </a:rPr>
              <a:t>Jerusalem is sieged for 18 months</a:t>
            </a:r>
          </a:p>
          <a:p>
            <a:r>
              <a:rPr lang="en-US" sz="2400" dirty="0">
                <a:latin typeface="Arial" charset="0"/>
              </a:rPr>
              <a:t>Brief lull in the siege</a:t>
            </a:r>
          </a:p>
          <a:p>
            <a:r>
              <a:rPr lang="en-US" sz="2400" dirty="0">
                <a:latin typeface="Arial" charset="0"/>
              </a:rPr>
              <a:t>Egypt comes to help</a:t>
            </a:r>
          </a:p>
          <a:p>
            <a:r>
              <a:rPr lang="en-US" sz="2400" dirty="0">
                <a:latin typeface="Arial" charset="0"/>
              </a:rPr>
              <a:t>Babylon sent forces to Egypt relieving Jerusalem</a:t>
            </a:r>
          </a:p>
          <a:p>
            <a:r>
              <a:rPr lang="en-US" sz="2400" dirty="0">
                <a:latin typeface="Arial" charset="0"/>
              </a:rPr>
              <a:t>Slaves freed and </a:t>
            </a:r>
            <a:r>
              <a:rPr lang="en-US" sz="2400" dirty="0" smtClean="0">
                <a:latin typeface="Arial" charset="0"/>
              </a:rPr>
              <a:t>retaken </a:t>
            </a:r>
            <a:r>
              <a:rPr lang="en-US" sz="2400" dirty="0" err="1" smtClean="0">
                <a:latin typeface="Arial" charset="0"/>
              </a:rPr>
              <a:t>Jer</a:t>
            </a:r>
            <a:r>
              <a:rPr lang="en-US" sz="2400" dirty="0" smtClean="0">
                <a:latin typeface="Arial" charset="0"/>
              </a:rPr>
              <a:t> 34:8ff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587 BC</a:t>
            </a:r>
            <a:br>
              <a:rPr lang="en-US" sz="4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Jeremiah 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Is Imprisoned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  <a:latin typeface="Arial" charset="0"/>
              </a:rPr>
              <a:t>586 BC</a:t>
            </a:r>
            <a:br>
              <a:rPr lang="en-US" sz="32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200" dirty="0" smtClean="0">
                <a:solidFill>
                  <a:schemeClr val="tx1"/>
                </a:solidFill>
                <a:latin typeface="Arial" charset="0"/>
              </a:rPr>
              <a:t>Babylonian </a:t>
            </a:r>
            <a:r>
              <a:rPr lang="en-US" sz="3200" dirty="0">
                <a:solidFill>
                  <a:schemeClr val="tx1"/>
                </a:solidFill>
                <a:latin typeface="Arial" charset="0"/>
              </a:rPr>
              <a:t>Army Breaks Into Jerusalem #1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Prisoners taken to Riblah</a:t>
            </a:r>
          </a:p>
          <a:p>
            <a:r>
              <a:rPr lang="en-US" sz="2400">
                <a:latin typeface="Arial" charset="0"/>
              </a:rPr>
              <a:t>Zedekiah's sons killed</a:t>
            </a:r>
          </a:p>
          <a:p>
            <a:r>
              <a:rPr lang="en-US" sz="2400">
                <a:latin typeface="Arial" charset="0"/>
              </a:rPr>
              <a:t>Zedekiah blinded and taken to exile</a:t>
            </a:r>
          </a:p>
          <a:p>
            <a:r>
              <a:rPr lang="en-US" sz="2400">
                <a:latin typeface="Arial" charset="0"/>
              </a:rPr>
              <a:t>Most people are deported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60432" cy="695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3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  <a:latin typeface="Arial" charset="0"/>
              </a:rPr>
              <a:t>586 BC</a:t>
            </a:r>
            <a:br>
              <a:rPr lang="en-US" sz="32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200" dirty="0" smtClean="0">
                <a:solidFill>
                  <a:schemeClr val="tx1"/>
                </a:solidFill>
                <a:latin typeface="Arial" charset="0"/>
              </a:rPr>
              <a:t>Babylonian </a:t>
            </a:r>
            <a:r>
              <a:rPr lang="en-US" sz="3200" dirty="0">
                <a:solidFill>
                  <a:schemeClr val="tx1"/>
                </a:solidFill>
                <a:latin typeface="Arial" charset="0"/>
              </a:rPr>
              <a:t>Army Breaks Into Jerusalem #2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The city plundered and burned</a:t>
            </a:r>
          </a:p>
          <a:p>
            <a:r>
              <a:rPr lang="en-US" sz="2400">
                <a:latin typeface="Arial" charset="0"/>
              </a:rPr>
              <a:t>Objects of worship taken from temple</a:t>
            </a:r>
          </a:p>
          <a:p>
            <a:r>
              <a:rPr lang="en-US" sz="2400">
                <a:latin typeface="Arial" charset="0"/>
              </a:rPr>
              <a:t>The temple destroyed</a:t>
            </a:r>
          </a:p>
          <a:p>
            <a:r>
              <a:rPr lang="en-US" sz="2400">
                <a:latin typeface="Arial" charset="0"/>
              </a:rPr>
              <a:t>Including the ark of the covenant?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586 BC</a:t>
            </a:r>
            <a:br>
              <a:rPr lang="en-US" sz="36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Arial" charset="0"/>
              </a:rPr>
              <a:t>Continued</a:t>
            </a:r>
            <a:endParaRPr lang="en-US" sz="3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3178696" cy="4800600"/>
          </a:xfrm>
        </p:spPr>
        <p:txBody>
          <a:bodyPr/>
          <a:lstStyle/>
          <a:p>
            <a:r>
              <a:rPr lang="en-US" sz="2400" dirty="0">
                <a:latin typeface="Arial" charset="0"/>
              </a:rPr>
              <a:t>Gedaliah made governor</a:t>
            </a:r>
          </a:p>
          <a:p>
            <a:r>
              <a:rPr lang="en-US" sz="2400" dirty="0">
                <a:latin typeface="Arial" charset="0"/>
              </a:rPr>
              <a:t>3 months later Gedaliah is murdered</a:t>
            </a:r>
          </a:p>
          <a:p>
            <a:r>
              <a:rPr lang="en-US" sz="2400" dirty="0">
                <a:latin typeface="Arial" charset="0"/>
              </a:rPr>
              <a:t>Jews flee to Egypt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0"/>
            <a:ext cx="5292080" cy="6845952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582 BC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Arial" charset="0"/>
              </a:rPr>
            </a:b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Final 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Deportation of </a:t>
            </a:r>
            <a:r>
              <a:rPr lang="en-US" sz="4400" dirty="0" smtClean="0">
                <a:solidFill>
                  <a:schemeClr val="tx1"/>
                </a:solidFill>
                <a:latin typeface="Arial" charset="0"/>
              </a:rPr>
              <a:t>the Poorest </a:t>
            </a:r>
            <a:r>
              <a:rPr lang="en-US" sz="4400" dirty="0">
                <a:solidFill>
                  <a:schemeClr val="tx1"/>
                </a:solidFill>
                <a:latin typeface="Arial" charset="0"/>
              </a:rPr>
              <a:t>of Poor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694</TotalTime>
  <Words>633</Words>
  <Application>Microsoft Office PowerPoint</Application>
  <PresentationFormat>On-screen Show (4:3)</PresentationFormat>
  <Paragraphs>169</Paragraphs>
  <Slides>37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Adjacency</vt:lpstr>
      <vt:lpstr>Historical Background to the Book of Jeremiah </vt:lpstr>
      <vt:lpstr>PowerPoint Presentation</vt:lpstr>
      <vt:lpstr>PowerPoint Presentation</vt:lpstr>
      <vt:lpstr>Historical Background to the  Book of Jeremiah</vt:lpstr>
      <vt:lpstr>686 BC  Manasseh Assumed Sole Kingship</vt:lpstr>
      <vt:lpstr>686 BC Manasseh Assumed Sole Kingship</vt:lpstr>
      <vt:lpstr> 648 BC Josiah Was Born</vt:lpstr>
      <vt:lpstr>642 BC  Amon Succeeded Manasseh As King</vt:lpstr>
      <vt:lpstr>640 BC Josiah Becomes King (Aged 8)</vt:lpstr>
      <vt:lpstr>633/2 BC  Josiah Begins to Seek God</vt:lpstr>
      <vt:lpstr>628 BC Josiah Renounces Idolatry</vt:lpstr>
      <vt:lpstr>627 BC Jeremiah Called by God</vt:lpstr>
      <vt:lpstr>626 BC Death of Ashurbanipal</vt:lpstr>
      <vt:lpstr>622/1 BC  Discovery of Book of Law</vt:lpstr>
      <vt:lpstr>622/1 BC Discovery of Book of Law</vt:lpstr>
      <vt:lpstr>What Was Found?</vt:lpstr>
      <vt:lpstr>Josiah’s Response to  Reading the Law #1</vt:lpstr>
      <vt:lpstr>Josiah’s Response to  Reading the Law #2</vt:lpstr>
      <vt:lpstr>What Was the  Result of the Reform?</vt:lpstr>
      <vt:lpstr>617 BC Attacks by Babylon and Medes on Assyrian Cities</vt:lpstr>
      <vt:lpstr>612 BC Nineveh ‑ Capital of Assyria Falls</vt:lpstr>
      <vt:lpstr>PowerPoint Presentation</vt:lpstr>
      <vt:lpstr>609 BC Necho and Egyptian Army March North</vt:lpstr>
      <vt:lpstr>609 BC Necho and Egyptian Army March North</vt:lpstr>
      <vt:lpstr>605/4 BC Battle of Carchemish</vt:lpstr>
      <vt:lpstr>605/4 BC Battle of Carchemish</vt:lpstr>
      <vt:lpstr>601 BC Nebuchadnezzar Attacks Egypt</vt:lpstr>
      <vt:lpstr>598/7 BC Judah Rejects Babylon Suzerainty #1</vt:lpstr>
      <vt:lpstr>598/7 BC Judah Rejects Babylon Suzerainty #2</vt:lpstr>
      <vt:lpstr>594/3 BC Uprising in Babylon</vt:lpstr>
      <vt:lpstr>588 BC Judah Invaded by Babylon</vt:lpstr>
      <vt:lpstr>587 BC Jeremiah Is Imprisoned</vt:lpstr>
      <vt:lpstr>586 BC Babylonian Army Breaks Into Jerusalem #1</vt:lpstr>
      <vt:lpstr>PowerPoint Presentation</vt:lpstr>
      <vt:lpstr>586 BC Babylonian Army Breaks Into Jerusalem #2</vt:lpstr>
      <vt:lpstr>586 BC Continued</vt:lpstr>
      <vt:lpstr>582 BC  Final Deportation of the Poorest of Poor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background to the book of Jeremiah</dc:title>
  <dc:creator>Phil and Linda Leage</dc:creator>
  <cp:lastModifiedBy>Phil Leage</cp:lastModifiedBy>
  <cp:revision>84</cp:revision>
  <cp:lastPrinted>2001-12-06T11:23:44Z</cp:lastPrinted>
  <dcterms:created xsi:type="dcterms:W3CDTF">2001-05-08T19:19:51Z</dcterms:created>
  <dcterms:modified xsi:type="dcterms:W3CDTF">2011-07-27T13:27:11Z</dcterms:modified>
</cp:coreProperties>
</file>